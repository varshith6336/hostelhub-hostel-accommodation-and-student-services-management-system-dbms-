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5E138E8-FA79-23C9-5F45-DC1E3B557DB6}">
          <p14:sldIdLst>
            <p14:sldId id="256"/>
          </p14:sldIdLst>
        </p14:section>
        <p14:section name="Overview" id="{35BB1667-A044-2FC7-9568-71E32EF3081F}">
          <p14:sldIdLst>
            <p14:sldId id="257"/>
            <p14:sldId id="258"/>
          </p14:sldIdLst>
        </p14:section>
        <p14:section name="Database design" id="{28C0E85A-F4D1-3ACE-640E-3EAF6E5667A3}">
          <p14:sldIdLst>
            <p14:sldId id="259"/>
            <p14:sldId id="260"/>
          </p14:sldIdLst>
        </p14:section>
        <p14:section name="Database rules and results" id="{0A9ACFFA-6BF8-1B70-71A5-6465987C357B}">
          <p14:sldIdLst>
            <p14:sldId id="261"/>
            <p14:sldId id="262"/>
          </p14:sldIdLst>
        </p14:section>
        <p14:section name="HostelHub interface" id="{5379C3DC-3C1D-CB4A-8653-EC023C99D605}">
          <p14:sldIdLst>
            <p14:sldId id="263"/>
            <p14:sldId id="264"/>
            <p14:sldId id="265"/>
          </p14:sldIdLst>
        </p14:section>
        <p14:section name="Results" id="{9FECC6CD-E452-924C-86F7-583EC34F7291}">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5" d="100"/>
          <a:sy n="115" d="100"/>
        </p:scale>
        <p:origin x="691"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8951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 hostel accommodation and student services system with a normalised database design and a web interface called HostelHub.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hostel records are kept in separate registers. That leads to four recurring problems, shown in the table. The project removes each of them through database design and interface rules.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users, the HostelHub interface, application logic and the data layer. In the current demo the interface works on sample data held in the browser; the relational schema is the specification of the data layer and the planned connection is to MySQL.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from student to allocation to bed to room to block. The fee tables (schedule, bill, payment) and the service tables (visitor, complaint, maintenance) connect to students and rooms.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17 relations are in Third Normal Form, and in BCNF because every determinant is a candidate key. Each redundancy was removed so that every fact is stored once.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live in the database, so they hold even if an application is bypassed. Each was tested with a deliberate violation, and the database rejected every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result screenshots from the MySQL database. Seven beds match the total room capacity of seven, and four of them are occupied.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shows registered students, bed occupancy, available beds and open complaints. The cards are calculated from the records, so they change as soon as you act. The other screens are students, rooms and beds, allocations, complaints, visitor log and reports.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Allocation offers only unallocated students and rooms with free capacity, so double allocation and over-capacity cannot happen in the interface.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Complaints carry priority and status and are marked resolved from the register.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Eighteen interface tests were run automatically against the page and all passed, with no JavaScript errors. Eleven rule-breaking SQL statements were all rejected by the database.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delivered a normalised design, database-level rules and a working interface. The main next step is connecting HostelHub to the MySQL database and adding the fee, transfer and vacating screens. Thank the audience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17320"/>
            <a:ext cx="7863840" cy="13716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773168"/>
            <a:ext cx="5486400" cy="256032"/>
          </a:xfrm>
          <a:prstGeom prst="rect">
            <a:avLst/>
          </a:prstGeom>
          <a:noFill/>
          <a:ln/>
        </p:spPr>
        <p:txBody>
          <a:bodyPr wrap="square" lIns="0" tIns="0" rIns="0" bIns="0" rtlCol="0" anchor="ctr"/>
          <a:lstStyle/>
          <a:p>
            <a:pPr marL="0" indent="0">
              <a:buNone/>
            </a:pPr>
            <a:r>
              <a:rPr lang="en-US" sz="1000" dirty="0">
                <a:solidFill>
                  <a:srgbClr val="5F6B7A"/>
                </a:solidFill>
              </a:rPr>
              <a:t>Hostel Accommodation &amp; Student Services Management System</a:t>
            </a:r>
            <a:endParaRPr lang="en-US" sz="10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63040"/>
            <a:ext cx="7863840" cy="82296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868680"/>
            <a:ext cx="7863840" cy="320040"/>
          </a:xfrm>
          <a:prstGeom prst="rect">
            <a:avLst/>
          </a:prstGeom>
          <a:noFill/>
          <a:ln/>
        </p:spPr>
        <p:txBody>
          <a:bodyPr wrap="square" lIns="0" tIns="0" rIns="0" bIns="0" rtlCol="0" anchor="ctr"/>
          <a:lstStyle/>
          <a:p>
            <a:pPr marL="0" indent="0">
              <a:buNone/>
            </a:pPr>
            <a:endParaRPr lang="en-US" sz="1400" dirty="0"/>
          </a:p>
        </p:txBody>
      </p:sp>
      <p:sp>
        <p:nvSpPr>
          <p:cNvPr id="3" name="Text 0"/>
          <p:cNvSpPr>
            <a:spLocks noGrp="1"/>
          </p:cNvSpPr>
          <p:nvPr>
            <p:ph type="title" idx="100" hasCustomPrompt="1"/>
          </p:nvPr>
        </p:nvSpPr>
        <p:spPr>
          <a:xfrm>
            <a:off x="640080" y="1417320"/>
            <a:ext cx="7863840" cy="1371600"/>
          </a:xfrm>
          <a:prstGeom prst="rect">
            <a:avLst/>
          </a:prstGeom>
          <a:noFill/>
          <a:ln/>
        </p:spPr>
        <p:txBody>
          <a:bodyPr wrap="square" lIns="0" tIns="0" rIns="0" bIns="0" rtlCol="0" anchor="t"/>
          <a:lstStyle/>
          <a:p>
            <a:pPr marL="0" indent="0" algn="l">
              <a:buNone/>
            </a:pPr>
            <a:endParaRPr lang="en-US" sz="4000" dirty="0"/>
          </a:p>
        </p:txBody>
      </p:sp>
      <p:pic>
        <p:nvPicPr>
          <p:cNvPr id="10" name="Picture 9">
            <a:extLst>
              <a:ext uri="{FF2B5EF4-FFF2-40B4-BE49-F238E27FC236}">
                <a16:creationId xmlns:a16="http://schemas.microsoft.com/office/drawing/2014/main" id="{3899FCF9-0BF9-F111-495E-CDCA878DBB82}"/>
              </a:ext>
            </a:extLst>
          </p:cNvPr>
          <p:cNvPicPr>
            <a:picLocks noChangeAspect="1"/>
          </p:cNvPicPr>
          <p:nvPr/>
        </p:nvPicPr>
        <p:blipFill>
          <a:blip r:embed="rId3"/>
          <a:stretch>
            <a:fillRect/>
          </a:stretch>
        </p:blipFill>
        <p:spPr>
          <a:xfrm>
            <a:off x="9356" y="0"/>
            <a:ext cx="9139141"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OVERVIEW</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Problem statement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2834640"/>
        </p:xfrm>
        <a:graphic>
          <a:graphicData uri="http://schemas.openxmlformats.org/drawingml/2006/table">
            <a:tbl>
              <a:tblPr/>
              <a:tblGrid>
                <a:gridCol w="292608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566928">
                <a:tc>
                  <a:txBody>
                    <a:bodyPr/>
                    <a:lstStyle/>
                    <a:p>
                      <a:pPr marL="0" indent="0">
                        <a:buNone/>
                      </a:pPr>
                      <a:r>
                        <a:rPr lang="en-US" sz="1600" b="1" dirty="0">
                          <a:solidFill>
                            <a:srgbClr val="FFFFFF"/>
                          </a:solidFill>
                        </a:rPr>
                        <a:t>Problem</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tc>
                  <a:txBody>
                    <a:bodyPr/>
                    <a:lstStyle/>
                    <a:p>
                      <a:pPr marL="0" indent="0">
                        <a:buNone/>
                      </a:pPr>
                      <a:r>
                        <a:rPr lang="en-US" sz="1600" b="1" dirty="0">
                          <a:solidFill>
                            <a:srgbClr val="FFFFFF"/>
                          </a:solidFill>
                        </a:rPr>
                        <a:t>Effect on the hostel office</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566928">
                <a:tc>
                  <a:txBody>
                    <a:bodyPr/>
                    <a:lstStyle/>
                    <a:p>
                      <a:pPr marL="0" indent="0">
                        <a:buNone/>
                      </a:pPr>
                      <a:r>
                        <a:rPr lang="en-US" sz="1600" dirty="0">
                          <a:solidFill>
                            <a:srgbClr val="1B1F2A"/>
                          </a:solidFill>
                        </a:rPr>
                        <a:t>Double-booked beds</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600" dirty="0">
                          <a:solidFill>
                            <a:srgbClr val="1B1F2A"/>
                          </a:solidFill>
                        </a:rPr>
                        <a:t>One bed can be assigned to two students</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600" dirty="0">
                          <a:solidFill>
                            <a:srgbClr val="1B1F2A"/>
                          </a:solidFill>
                        </a:rPr>
                        <a:t>Rooms over capacity</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600" dirty="0">
                          <a:solidFill>
                            <a:srgbClr val="1B1F2A"/>
                          </a:solidFill>
                        </a:rPr>
                        <a:t>Nothing limits the number of beds placed in a room</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600" dirty="0">
                          <a:solidFill>
                            <a:srgbClr val="1B1F2A"/>
                          </a:solidFill>
                        </a:rPr>
                        <a:t>Missed fee dues</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600" dirty="0">
                          <a:solidFill>
                            <a:srgbClr val="1B1F2A"/>
                          </a:solidFill>
                        </a:rPr>
                        <a:t>Payments are tracked in separate sheets</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600" dirty="0">
                          <a:solidFill>
                            <a:srgbClr val="1B1F2A"/>
                          </a:solidFill>
                        </a:rPr>
                        <a:t>Complaints never closed</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600" dirty="0">
                          <a:solidFill>
                            <a:srgbClr val="1B1F2A"/>
                          </a:solidFill>
                        </a:rPr>
                        <a:t>No single place to follow a request to resolution</a:t>
                      </a:r>
                      <a:endParaRPr lang="en-US" sz="16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2"/>
          <p:cNvSpPr txBox="1"/>
          <p:nvPr/>
        </p:nvSpPr>
        <p:spPr>
          <a:xfrm>
            <a:off x="457200" y="4343400"/>
            <a:ext cx="8229600" cy="320040"/>
          </a:xfrm>
          <a:prstGeom prst="rect">
            <a:avLst/>
          </a:prstGeom>
          <a:noFill/>
          <a:ln/>
        </p:spPr>
        <p:txBody>
          <a:bodyPr wrap="square" lIns="0" tIns="0" rIns="0" bIns="0" rtlCol="0" anchor="ctr"/>
          <a:lstStyle/>
          <a:p>
            <a:pPr marL="0" indent="0">
              <a:buNone/>
            </a:pPr>
            <a:r>
              <a:rPr lang="en-US" sz="1400" i="1" dirty="0">
                <a:solidFill>
                  <a:schemeClr val="accent5"/>
                </a:solidFill>
              </a:rPr>
              <a:t>Objective: one consistent database and interface that prevents these errors by design.</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OVERVIEW</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Solution architecture</a:t>
            </a:r>
            <a:endParaRPr lang="en-US" sz="2800" dirty="0"/>
          </a:p>
        </p:txBody>
      </p:sp>
      <p:sp>
        <p:nvSpPr>
          <p:cNvPr id="5" name="layer box"/>
          <p:cNvSpPr/>
          <p:nvPr/>
        </p:nvSpPr>
        <p:spPr>
          <a:xfrm>
            <a:off x="457200" y="1371600"/>
            <a:ext cx="1828800" cy="1417320"/>
          </a:xfrm>
          <a:prstGeom prst="rect">
            <a:avLst/>
          </a:prstGeom>
          <a:solidFill>
            <a:schemeClr val="bg2"/>
          </a:solidFill>
          <a:ln w="9525">
            <a:solidFill>
              <a:srgbClr val="C9D1DC"/>
            </a:solidFill>
            <a:prstDash val="solid"/>
          </a:ln>
        </p:spPr>
      </p:sp>
      <p:sp>
        <p:nvSpPr>
          <p:cNvPr id="6" name="Text 3"/>
          <p:cNvSpPr txBox="1"/>
          <p:nvPr/>
        </p:nvSpPr>
        <p:spPr>
          <a:xfrm>
            <a:off x="566928" y="1481328"/>
            <a:ext cx="1609344" cy="365760"/>
          </a:xfrm>
          <a:prstGeom prst="rect">
            <a:avLst/>
          </a:prstGeom>
          <a:noFill/>
          <a:ln/>
        </p:spPr>
        <p:txBody>
          <a:bodyPr wrap="square" lIns="0" tIns="0" rIns="0" bIns="0" rtlCol="0" anchor="t"/>
          <a:lstStyle/>
          <a:p>
            <a:pPr marL="0" indent="0">
              <a:buNone/>
            </a:pPr>
            <a:r>
              <a:rPr lang="en-US" sz="1600" b="1" dirty="0">
                <a:solidFill>
                  <a:schemeClr val="tx2"/>
                </a:solidFill>
              </a:rPr>
              <a:t>Users</a:t>
            </a:r>
            <a:endParaRPr lang="en-US" sz="1600" dirty="0"/>
          </a:p>
        </p:txBody>
      </p:sp>
      <p:sp>
        <p:nvSpPr>
          <p:cNvPr id="7" name="Text 4"/>
          <p:cNvSpPr txBox="1"/>
          <p:nvPr/>
        </p:nvSpPr>
        <p:spPr>
          <a:xfrm>
            <a:off x="566928" y="1920240"/>
            <a:ext cx="1609344" cy="777240"/>
          </a:xfrm>
          <a:prstGeom prst="rect">
            <a:avLst/>
          </a:prstGeom>
          <a:noFill/>
          <a:ln/>
        </p:spPr>
        <p:txBody>
          <a:bodyPr wrap="square" lIns="0" tIns="0" rIns="0" bIns="0" rtlCol="0" anchor="t"/>
          <a:lstStyle/>
          <a:p>
            <a:pPr marL="0" indent="0">
              <a:buNone/>
            </a:pPr>
            <a:r>
              <a:rPr lang="en-US" sz="1400" dirty="0">
                <a:solidFill>
                  <a:schemeClr val="tx1"/>
                </a:solidFill>
              </a:rPr>
              <a:t>Warden, accounts officer, administrator</a:t>
            </a:r>
            <a:endParaRPr lang="en-US" sz="1400" dirty="0"/>
          </a:p>
        </p:txBody>
      </p:sp>
      <p:sp>
        <p:nvSpPr>
          <p:cNvPr id="8" name="arrow"/>
          <p:cNvSpPr/>
          <p:nvPr/>
        </p:nvSpPr>
        <p:spPr>
          <a:xfrm>
            <a:off x="2331720" y="1938528"/>
            <a:ext cx="274320" cy="274320"/>
          </a:xfrm>
          <a:prstGeom prst="rightArrow">
            <a:avLst/>
          </a:prstGeom>
          <a:solidFill>
            <a:schemeClr val="accent1"/>
          </a:solidFill>
          <a:ln w="12700">
            <a:solidFill>
              <a:schemeClr val="accent1"/>
            </a:solidFill>
            <a:prstDash val="solid"/>
          </a:ln>
        </p:spPr>
      </p:sp>
      <p:sp>
        <p:nvSpPr>
          <p:cNvPr id="9" name="layer box"/>
          <p:cNvSpPr/>
          <p:nvPr/>
        </p:nvSpPr>
        <p:spPr>
          <a:xfrm>
            <a:off x="2651760" y="1371600"/>
            <a:ext cx="1828800" cy="1417320"/>
          </a:xfrm>
          <a:prstGeom prst="rect">
            <a:avLst/>
          </a:prstGeom>
          <a:solidFill>
            <a:schemeClr val="bg2"/>
          </a:solidFill>
          <a:ln w="9525">
            <a:solidFill>
              <a:srgbClr val="C9D1DC"/>
            </a:solidFill>
            <a:prstDash val="solid"/>
          </a:ln>
        </p:spPr>
      </p:sp>
      <p:sp>
        <p:nvSpPr>
          <p:cNvPr id="10" name="Text 7"/>
          <p:cNvSpPr txBox="1"/>
          <p:nvPr/>
        </p:nvSpPr>
        <p:spPr>
          <a:xfrm>
            <a:off x="2761488" y="1481328"/>
            <a:ext cx="1609344" cy="365760"/>
          </a:xfrm>
          <a:prstGeom prst="rect">
            <a:avLst/>
          </a:prstGeom>
          <a:noFill/>
          <a:ln/>
        </p:spPr>
        <p:txBody>
          <a:bodyPr wrap="square" lIns="0" tIns="0" rIns="0" bIns="0" rtlCol="0" anchor="t"/>
          <a:lstStyle/>
          <a:p>
            <a:pPr marL="0" indent="0">
              <a:buNone/>
            </a:pPr>
            <a:r>
              <a:rPr lang="en-US" sz="1600" b="1" dirty="0">
                <a:solidFill>
                  <a:schemeClr val="tx2"/>
                </a:solidFill>
              </a:rPr>
              <a:t>Interface</a:t>
            </a:r>
            <a:endParaRPr lang="en-US" sz="1600" dirty="0"/>
          </a:p>
        </p:txBody>
      </p:sp>
      <p:sp>
        <p:nvSpPr>
          <p:cNvPr id="11" name="Text 8"/>
          <p:cNvSpPr txBox="1"/>
          <p:nvPr/>
        </p:nvSpPr>
        <p:spPr>
          <a:xfrm>
            <a:off x="2761488" y="1920240"/>
            <a:ext cx="1609344" cy="777240"/>
          </a:xfrm>
          <a:prstGeom prst="rect">
            <a:avLst/>
          </a:prstGeom>
          <a:noFill/>
          <a:ln/>
        </p:spPr>
        <p:txBody>
          <a:bodyPr wrap="square" lIns="0" tIns="0" rIns="0" bIns="0" rtlCol="0" anchor="t"/>
          <a:lstStyle/>
          <a:p>
            <a:pPr marL="0" indent="0">
              <a:buNone/>
            </a:pPr>
            <a:r>
              <a:rPr lang="en-US" sz="1400" dirty="0">
                <a:solidFill>
                  <a:schemeClr val="tx1"/>
                </a:solidFill>
              </a:rPr>
              <a:t>HostelHub: seven screens in HTML and CSS</a:t>
            </a:r>
            <a:endParaRPr lang="en-US" sz="1400" dirty="0"/>
          </a:p>
        </p:txBody>
      </p:sp>
      <p:sp>
        <p:nvSpPr>
          <p:cNvPr id="12" name="arrow"/>
          <p:cNvSpPr/>
          <p:nvPr/>
        </p:nvSpPr>
        <p:spPr>
          <a:xfrm>
            <a:off x="4526280" y="1938528"/>
            <a:ext cx="274320" cy="274320"/>
          </a:xfrm>
          <a:prstGeom prst="rightArrow">
            <a:avLst/>
          </a:prstGeom>
          <a:solidFill>
            <a:schemeClr val="accent1"/>
          </a:solidFill>
          <a:ln w="12700">
            <a:solidFill>
              <a:schemeClr val="accent1"/>
            </a:solidFill>
            <a:prstDash val="solid"/>
          </a:ln>
        </p:spPr>
      </p:sp>
      <p:sp>
        <p:nvSpPr>
          <p:cNvPr id="13" name="layer box"/>
          <p:cNvSpPr/>
          <p:nvPr/>
        </p:nvSpPr>
        <p:spPr>
          <a:xfrm>
            <a:off x="4846320" y="1371600"/>
            <a:ext cx="1828800" cy="1417320"/>
          </a:xfrm>
          <a:prstGeom prst="rect">
            <a:avLst/>
          </a:prstGeom>
          <a:solidFill>
            <a:schemeClr val="bg2"/>
          </a:solidFill>
          <a:ln w="9525">
            <a:solidFill>
              <a:srgbClr val="C9D1DC"/>
            </a:solidFill>
            <a:prstDash val="solid"/>
          </a:ln>
        </p:spPr>
      </p:sp>
      <p:sp>
        <p:nvSpPr>
          <p:cNvPr id="14" name="Text 11"/>
          <p:cNvSpPr txBox="1"/>
          <p:nvPr/>
        </p:nvSpPr>
        <p:spPr>
          <a:xfrm>
            <a:off x="4956048" y="1481328"/>
            <a:ext cx="1609344" cy="365760"/>
          </a:xfrm>
          <a:prstGeom prst="rect">
            <a:avLst/>
          </a:prstGeom>
          <a:noFill/>
          <a:ln/>
        </p:spPr>
        <p:txBody>
          <a:bodyPr wrap="square" lIns="0" tIns="0" rIns="0" bIns="0" rtlCol="0" anchor="t"/>
          <a:lstStyle/>
          <a:p>
            <a:pPr marL="0" indent="0">
              <a:buNone/>
            </a:pPr>
            <a:r>
              <a:rPr lang="en-US" sz="1600" b="1" dirty="0">
                <a:solidFill>
                  <a:schemeClr val="tx2"/>
                </a:solidFill>
              </a:rPr>
              <a:t>Application logic</a:t>
            </a:r>
            <a:endParaRPr lang="en-US" sz="1600" dirty="0"/>
          </a:p>
        </p:txBody>
      </p:sp>
      <p:sp>
        <p:nvSpPr>
          <p:cNvPr id="15" name="Text 12"/>
          <p:cNvSpPr txBox="1"/>
          <p:nvPr/>
        </p:nvSpPr>
        <p:spPr>
          <a:xfrm>
            <a:off x="4956048" y="1920240"/>
            <a:ext cx="1609344" cy="777240"/>
          </a:xfrm>
          <a:prstGeom prst="rect">
            <a:avLst/>
          </a:prstGeom>
          <a:noFill/>
          <a:ln/>
        </p:spPr>
        <p:txBody>
          <a:bodyPr wrap="square" lIns="0" tIns="0" rIns="0" bIns="0" rtlCol="0" anchor="t"/>
          <a:lstStyle/>
          <a:p>
            <a:pPr marL="0" indent="0">
              <a:buNone/>
            </a:pPr>
            <a:r>
              <a:rPr lang="en-US" sz="1400" dirty="0">
                <a:solidFill>
                  <a:schemeClr val="tx1"/>
                </a:solidFill>
              </a:rPr>
              <a:t>Validation and allocation rules in JavaScript</a:t>
            </a:r>
            <a:endParaRPr lang="en-US" sz="1400" dirty="0"/>
          </a:p>
        </p:txBody>
      </p:sp>
      <p:sp>
        <p:nvSpPr>
          <p:cNvPr id="16" name="arrow"/>
          <p:cNvSpPr/>
          <p:nvPr/>
        </p:nvSpPr>
        <p:spPr>
          <a:xfrm>
            <a:off x="6720840" y="1938528"/>
            <a:ext cx="274320" cy="274320"/>
          </a:xfrm>
          <a:prstGeom prst="rightArrow">
            <a:avLst/>
          </a:prstGeom>
          <a:solidFill>
            <a:schemeClr val="accent1"/>
          </a:solidFill>
          <a:ln w="12700">
            <a:solidFill>
              <a:schemeClr val="accent1"/>
            </a:solidFill>
            <a:prstDash val="solid"/>
          </a:ln>
        </p:spPr>
      </p:sp>
      <p:sp>
        <p:nvSpPr>
          <p:cNvPr id="17" name="layer box"/>
          <p:cNvSpPr/>
          <p:nvPr/>
        </p:nvSpPr>
        <p:spPr>
          <a:xfrm>
            <a:off x="7040880" y="1371600"/>
            <a:ext cx="1828800" cy="1417320"/>
          </a:xfrm>
          <a:prstGeom prst="rect">
            <a:avLst/>
          </a:prstGeom>
          <a:solidFill>
            <a:schemeClr val="bg2"/>
          </a:solidFill>
          <a:ln w="9525">
            <a:solidFill>
              <a:srgbClr val="C9D1DC"/>
            </a:solidFill>
            <a:prstDash val="solid"/>
          </a:ln>
        </p:spPr>
      </p:sp>
      <p:sp>
        <p:nvSpPr>
          <p:cNvPr id="18" name="Text 15"/>
          <p:cNvSpPr txBox="1"/>
          <p:nvPr/>
        </p:nvSpPr>
        <p:spPr>
          <a:xfrm>
            <a:off x="7150608" y="1481328"/>
            <a:ext cx="1609344" cy="365760"/>
          </a:xfrm>
          <a:prstGeom prst="rect">
            <a:avLst/>
          </a:prstGeom>
          <a:noFill/>
          <a:ln/>
        </p:spPr>
        <p:txBody>
          <a:bodyPr wrap="square" lIns="0" tIns="0" rIns="0" bIns="0" rtlCol="0" anchor="t"/>
          <a:lstStyle/>
          <a:p>
            <a:pPr marL="0" indent="0">
              <a:buNone/>
            </a:pPr>
            <a:r>
              <a:rPr lang="en-US" sz="1600" b="1" dirty="0">
                <a:solidFill>
                  <a:schemeClr val="tx2"/>
                </a:solidFill>
              </a:rPr>
              <a:t>Data layer</a:t>
            </a:r>
            <a:endParaRPr lang="en-US" sz="1600" dirty="0"/>
          </a:p>
        </p:txBody>
      </p:sp>
      <p:sp>
        <p:nvSpPr>
          <p:cNvPr id="19" name="Text 16"/>
          <p:cNvSpPr txBox="1"/>
          <p:nvPr/>
        </p:nvSpPr>
        <p:spPr>
          <a:xfrm>
            <a:off x="7150608" y="1920240"/>
            <a:ext cx="1609344" cy="777240"/>
          </a:xfrm>
          <a:prstGeom prst="rect">
            <a:avLst/>
          </a:prstGeom>
          <a:noFill/>
          <a:ln/>
        </p:spPr>
        <p:txBody>
          <a:bodyPr wrap="square" lIns="0" tIns="0" rIns="0" bIns="0" rtlCol="0" anchor="t"/>
          <a:lstStyle/>
          <a:p>
            <a:pPr marL="0" indent="0">
              <a:buNone/>
            </a:pPr>
            <a:r>
              <a:rPr lang="en-US" sz="1400" dirty="0">
                <a:solidFill>
                  <a:schemeClr val="tx1"/>
                </a:solidFill>
              </a:rPr>
              <a:t>Relational schema in MySQL, 17 tables</a:t>
            </a:r>
            <a:endParaRPr lang="en-US" sz="1400" dirty="0"/>
          </a:p>
        </p:txBody>
      </p:sp>
      <p:sp>
        <p:nvSpPr>
          <p:cNvPr id="20" name="Text 17"/>
          <p:cNvSpPr txBox="1"/>
          <p:nvPr/>
        </p:nvSpPr>
        <p:spPr>
          <a:xfrm>
            <a:off x="457200" y="3200400"/>
            <a:ext cx="2560320" cy="320040"/>
          </a:xfrm>
          <a:prstGeom prst="rect">
            <a:avLst/>
          </a:prstGeom>
          <a:noFill/>
          <a:ln/>
        </p:spPr>
        <p:txBody>
          <a:bodyPr wrap="square" lIns="0" tIns="0" rIns="0" bIns="0" rtlCol="0" anchor="ctr"/>
          <a:lstStyle/>
          <a:p>
            <a:pPr marL="0" indent="0">
              <a:buNone/>
            </a:pPr>
            <a:r>
              <a:rPr lang="en-US" sz="1600" b="1" dirty="0">
                <a:solidFill>
                  <a:schemeClr val="accent1"/>
                </a:solidFill>
              </a:rPr>
              <a:t>Design</a:t>
            </a:r>
            <a:endParaRPr lang="en-US" sz="1600" dirty="0"/>
          </a:p>
        </p:txBody>
      </p:sp>
      <p:sp>
        <p:nvSpPr>
          <p:cNvPr id="21" name="Text 18"/>
          <p:cNvSpPr txBox="1"/>
          <p:nvPr/>
        </p:nvSpPr>
        <p:spPr>
          <a:xfrm>
            <a:off x="457200" y="3566160"/>
            <a:ext cx="2560320" cy="822960"/>
          </a:xfrm>
          <a:prstGeom prst="rect">
            <a:avLst/>
          </a:prstGeom>
          <a:noFill/>
          <a:ln/>
        </p:spPr>
        <p:txBody>
          <a:bodyPr wrap="square" lIns="0" tIns="0" rIns="0" bIns="0" rtlCol="0" anchor="t"/>
          <a:lstStyle/>
          <a:p>
            <a:pPr marL="0" indent="0">
              <a:buNone/>
            </a:pPr>
            <a:r>
              <a:rPr lang="en-US" sz="1400" dirty="0">
                <a:solidFill>
                  <a:schemeClr val="tx1"/>
                </a:solidFill>
              </a:rPr>
              <a:t>17 entities converted to 17 relations in Third Normal Form</a:t>
            </a:r>
            <a:endParaRPr lang="en-US" sz="1400" dirty="0"/>
          </a:p>
        </p:txBody>
      </p:sp>
      <p:sp>
        <p:nvSpPr>
          <p:cNvPr id="22" name="Text 19"/>
          <p:cNvSpPr txBox="1"/>
          <p:nvPr/>
        </p:nvSpPr>
        <p:spPr>
          <a:xfrm>
            <a:off x="3291840" y="3200400"/>
            <a:ext cx="2560320" cy="320040"/>
          </a:xfrm>
          <a:prstGeom prst="rect">
            <a:avLst/>
          </a:prstGeom>
          <a:noFill/>
          <a:ln/>
        </p:spPr>
        <p:txBody>
          <a:bodyPr wrap="square" lIns="0" tIns="0" rIns="0" bIns="0" rtlCol="0" anchor="ctr"/>
          <a:lstStyle/>
          <a:p>
            <a:pPr marL="0" indent="0">
              <a:buNone/>
            </a:pPr>
            <a:r>
              <a:rPr lang="en-US" sz="1600" b="1" dirty="0">
                <a:solidFill>
                  <a:schemeClr val="accent1"/>
                </a:solidFill>
              </a:rPr>
              <a:t>Enforce</a:t>
            </a:r>
            <a:endParaRPr lang="en-US" sz="1600" dirty="0"/>
          </a:p>
        </p:txBody>
      </p:sp>
      <p:sp>
        <p:nvSpPr>
          <p:cNvPr id="23" name="Text 20"/>
          <p:cNvSpPr txBox="1"/>
          <p:nvPr/>
        </p:nvSpPr>
        <p:spPr>
          <a:xfrm>
            <a:off x="3291840" y="3566160"/>
            <a:ext cx="2560320" cy="822960"/>
          </a:xfrm>
          <a:prstGeom prst="rect">
            <a:avLst/>
          </a:prstGeom>
          <a:noFill/>
          <a:ln/>
        </p:spPr>
        <p:txBody>
          <a:bodyPr wrap="square" lIns="0" tIns="0" rIns="0" bIns="0" rtlCol="0" anchor="t"/>
          <a:lstStyle/>
          <a:p>
            <a:pPr marL="0" indent="0">
              <a:buNone/>
            </a:pPr>
            <a:r>
              <a:rPr lang="en-US" sz="1400" dirty="0">
                <a:solidFill>
                  <a:schemeClr val="tx1"/>
                </a:solidFill>
              </a:rPr>
              <a:t>Constraints, partial unique indexes, 6 triggers and 8 views in SQL</a:t>
            </a:r>
            <a:endParaRPr lang="en-US" sz="1400" dirty="0"/>
          </a:p>
        </p:txBody>
      </p:sp>
      <p:sp>
        <p:nvSpPr>
          <p:cNvPr id="24" name="Text 21"/>
          <p:cNvSpPr txBox="1"/>
          <p:nvPr/>
        </p:nvSpPr>
        <p:spPr>
          <a:xfrm>
            <a:off x="6126480" y="3200400"/>
            <a:ext cx="2560320" cy="320040"/>
          </a:xfrm>
          <a:prstGeom prst="rect">
            <a:avLst/>
          </a:prstGeom>
          <a:noFill/>
          <a:ln/>
        </p:spPr>
        <p:txBody>
          <a:bodyPr wrap="square" lIns="0" tIns="0" rIns="0" bIns="0" rtlCol="0" anchor="ctr"/>
          <a:lstStyle/>
          <a:p>
            <a:pPr marL="0" indent="0">
              <a:buNone/>
            </a:pPr>
            <a:r>
              <a:rPr lang="en-US" sz="1600" b="1" dirty="0">
                <a:solidFill>
                  <a:schemeClr val="accent1"/>
                </a:solidFill>
              </a:rPr>
              <a:t>Operate</a:t>
            </a:r>
            <a:endParaRPr lang="en-US" sz="1600" dirty="0"/>
          </a:p>
        </p:txBody>
      </p:sp>
      <p:sp>
        <p:nvSpPr>
          <p:cNvPr id="25" name="Text 22"/>
          <p:cNvSpPr txBox="1"/>
          <p:nvPr/>
        </p:nvSpPr>
        <p:spPr>
          <a:xfrm>
            <a:off x="6126480" y="3566160"/>
            <a:ext cx="2560320" cy="822960"/>
          </a:xfrm>
          <a:prstGeom prst="rect">
            <a:avLst/>
          </a:prstGeom>
          <a:noFill/>
          <a:ln/>
        </p:spPr>
        <p:txBody>
          <a:bodyPr wrap="square" lIns="0" tIns="0" rIns="0" bIns="0" rtlCol="0" anchor="t"/>
          <a:lstStyle/>
          <a:p>
            <a:pPr marL="0" indent="0">
              <a:buNone/>
            </a:pPr>
            <a:r>
              <a:rPr lang="en-US" sz="1400" dirty="0">
                <a:solidFill>
                  <a:schemeClr val="tx1"/>
                </a:solidFill>
              </a:rPr>
              <a:t>HostelHub web interface with 7 screens built in VS Code</a:t>
            </a:r>
            <a:endParaRPr lang="en-US" sz="1400" dirty="0"/>
          </a:p>
        </p:txBody>
      </p:sp>
      <p:sp>
        <p:nvSpPr>
          <p:cNvPr id="4"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DATABASE DESIGN</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ER diagram</a:t>
            </a:r>
            <a:endParaRPr lang="en-US" sz="2800" dirty="0"/>
          </a:p>
        </p:txBody>
      </p:sp>
      <p:sp>
        <p:nvSpPr>
          <p:cNvPr id="5" name="Text 2"/>
          <p:cNvSpPr txBox="1"/>
          <p:nvPr/>
        </p:nvSpPr>
        <p:spPr>
          <a:xfrm>
            <a:off x="457200" y="1325880"/>
            <a:ext cx="3566160" cy="320040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chemeClr val="tx1"/>
                </a:solidFill>
              </a:rPr>
              <a:t>17 entities and 18 one-to-many relationships</a:t>
            </a:r>
            <a:endParaRPr lang="en-US" sz="1400" dirty="0"/>
          </a:p>
          <a:p>
            <a:pPr marL="342900" indent="-342900">
              <a:spcAft>
                <a:spcPts val="1200"/>
              </a:spcAft>
              <a:buSzPct val="100000"/>
              <a:buChar char="•"/>
            </a:pPr>
            <a:r>
              <a:rPr lang="en-US" sz="1400" dirty="0">
                <a:solidFill>
                  <a:schemeClr val="tx1"/>
                </a:solidFill>
              </a:rPr>
              <a:t>Crow’s-foot notation: a bar means one, a crow’s foot means many</a:t>
            </a:r>
            <a:endParaRPr lang="en-US" sz="1400" dirty="0"/>
          </a:p>
          <a:p>
            <a:pPr marL="342900" indent="-342900">
              <a:spcAft>
                <a:spcPts val="1200"/>
              </a:spcAft>
              <a:buSzPct val="100000"/>
              <a:buChar char="•"/>
            </a:pPr>
            <a:r>
              <a:rPr lang="en-US" sz="1400" dirty="0">
                <a:solidFill>
                  <a:schemeClr val="tx1"/>
                </a:solidFill>
              </a:rPr>
              <a:t>Core chain: student → allocation ← bed ← room ← block</a:t>
            </a:r>
            <a:endParaRPr lang="en-US" sz="1400" dirty="0"/>
          </a:p>
          <a:p>
            <a:pPr marL="342900" indent="-342900">
              <a:spcAft>
                <a:spcPts val="1200"/>
              </a:spcAft>
              <a:buSzPct val="100000"/>
              <a:buChar char="•"/>
            </a:pPr>
            <a:r>
              <a:rPr lang="en-US" sz="1400" dirty="0">
                <a:solidFill>
                  <a:schemeClr val="tx1"/>
                </a:solidFill>
              </a:rPr>
              <a:t>Fees, visitors, complaints and maintenance hang off students and rooms</a:t>
            </a:r>
            <a:endParaRPr lang="en-US" sz="1400" dirty="0"/>
          </a:p>
        </p:txBody>
      </p:sp>
      <p:pic>
        <p:nvPicPr>
          <p:cNvPr id="6" name="Image 0" descr="ER diagram of the hostel database with 17 entities"/>
          <p:cNvPicPr>
            <a:picLocks noChangeAspect="1"/>
          </p:cNvPicPr>
          <p:nvPr/>
        </p:nvPicPr>
        <p:blipFill>
          <a:blip r:embed="rId3"/>
          <a:stretch>
            <a:fillRect/>
          </a:stretch>
        </p:blipFill>
        <p:spPr>
          <a:xfrm>
            <a:off x="5048540" y="1188720"/>
            <a:ext cx="3638260" cy="3474720"/>
          </a:xfrm>
          <a:prstGeom prst="rect">
            <a:avLst/>
          </a:prstGeom>
        </p:spPr>
      </p:pic>
      <p:sp>
        <p:nvSpPr>
          <p:cNvPr id="7" name="screenshot frame"/>
          <p:cNvSpPr/>
          <p:nvPr/>
        </p:nvSpPr>
        <p:spPr>
          <a:xfrm>
            <a:off x="5048540" y="1188720"/>
            <a:ext cx="3638260" cy="3474720"/>
          </a:xfrm>
          <a:prstGeom prst="rect">
            <a:avLst/>
          </a:prstGeom>
          <a:ln w="9525">
            <a:solidFill>
              <a:srgbClr val="C9D1DC"/>
            </a:solidFill>
            <a:prstDash val="solid"/>
          </a:ln>
        </p:spPr>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DATABASE DESIGN</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Normalisation to 3NF</a:t>
            </a:r>
            <a:endParaRPr lang="en-US" sz="2800" dirty="0"/>
          </a:p>
        </p:txBody>
      </p:sp>
      <p:sp>
        <p:nvSpPr>
          <p:cNvPr id="5" name="Text 2"/>
          <p:cNvSpPr txBox="1"/>
          <p:nvPr/>
        </p:nvSpPr>
        <p:spPr>
          <a:xfrm>
            <a:off x="457200" y="1280160"/>
            <a:ext cx="8229600" cy="365760"/>
          </a:xfrm>
          <a:prstGeom prst="rect">
            <a:avLst/>
          </a:prstGeom>
          <a:noFill/>
          <a:ln/>
        </p:spPr>
        <p:txBody>
          <a:bodyPr wrap="square" lIns="0" tIns="0" rIns="0" bIns="0" rtlCol="0" anchor="ctr"/>
          <a:lstStyle/>
          <a:p>
            <a:pPr marL="0" indent="0">
              <a:buNone/>
            </a:pPr>
            <a:r>
              <a:rPr lang="en-US" sz="1600" b="1" dirty="0">
                <a:solidFill>
                  <a:schemeClr val="tx2"/>
                </a:solidFill>
              </a:rPr>
              <a:t>All 17 relations are in 3NF. Every fact is stored once.</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8229600" cy="2743200"/>
        </p:xfrm>
        <a:graphic>
          <a:graphicData uri="http://schemas.openxmlformats.org/drawingml/2006/table">
            <a:tbl>
              <a:tblPr/>
              <a:tblGrid>
                <a:gridCol w="310896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FFFFFF"/>
                          </a:solidFill>
                        </a:rPr>
                        <a:t>Redundancy removed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Where it is now stored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1B1F2A"/>
                          </a:solidFill>
                        </a:rPr>
                        <a:t>Room capacity</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room_type (not repeated in every room)</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rgbClr val="1B1F2A"/>
                          </a:solidFill>
                        </a:rPr>
                        <a:t>Fee amount</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fee_schedule (bills refer to it by fee_id)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dirty="0">
                          <a:solidFill>
                            <a:srgbClr val="1B1F2A"/>
                          </a:solidFill>
                        </a:rPr>
                        <a:t>Date a student left</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allocation.vacated_on only</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dirty="0">
                          <a:solidFill>
                            <a:srgbClr val="1B1F2A"/>
                          </a:solidFill>
                        </a:rPr>
                        <a:t>Block gender</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hostel_block (reached through room)</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400" dirty="0">
                          <a:solidFill>
                            <a:srgbClr val="1B1F2A"/>
                          </a:solidFill>
                        </a:rPr>
                        <a:t>Occupancy and balance</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Computed by views, never stored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DATABASE RULES AND RESULTS</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Integrity rules enforced by the database</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2926080"/>
        </p:xfrm>
        <a:graphic>
          <a:graphicData uri="http://schemas.openxmlformats.org/drawingml/2006/table">
            <a:tbl>
              <a:tblPr/>
              <a:tblGrid>
                <a:gridCol w="35661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65760">
                <a:tc>
                  <a:txBody>
                    <a:bodyPr/>
                    <a:lstStyle/>
                    <a:p>
                      <a:pPr marL="0" indent="0">
                        <a:buNone/>
                      </a:pPr>
                      <a:r>
                        <a:rPr lang="en-US" sz="1400" b="1" dirty="0">
                          <a:solidFill>
                            <a:srgbClr val="FFFFFF"/>
                          </a:solidFill>
                        </a:rPr>
                        <a:t>Business rule</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Enforced by</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Test result</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65760">
                <a:tc>
                  <a:txBody>
                    <a:bodyPr/>
                    <a:lstStyle/>
                    <a:p>
                      <a:pPr marL="0" indent="0">
                        <a:buNone/>
                      </a:pPr>
                      <a:r>
                        <a:rPr lang="en-US" sz="1400" dirty="0">
                          <a:solidFill>
                            <a:srgbClr val="1B1F2A"/>
                          </a:solidFill>
                        </a:rPr>
                        <a:t>One active resident per bed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Unique index + capacity trigger</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N-01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400" dirty="0">
                          <a:solidFill>
                            <a:srgbClr val="1B1F2A"/>
                          </a:solidFill>
                        </a:rPr>
                        <a:t>One active allocation per student</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Partial unique index</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N-02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400" dirty="0">
                          <a:solidFill>
                            <a:srgbClr val="1B1F2A"/>
                          </a:solidFill>
                        </a:rPr>
                        <a:t>Gender-matched blocks</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Trigger</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N-03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400" dirty="0">
                          <a:solidFill>
                            <a:srgbClr val="1B1F2A"/>
                          </a:solidFill>
                        </a:rPr>
                        <a:t>Valid allocation dates</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CHECK constraint</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N-04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400" dirty="0">
                          <a:solidFill>
                            <a:srgbClr val="1B1F2A"/>
                          </a:solidFill>
                        </a:rPr>
                        <a:t>Payment never above fee</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Trigger</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N-05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400" dirty="0">
                          <a:solidFill>
                            <a:srgbClr val="1B1F2A"/>
                          </a:solidFill>
                        </a:rPr>
                        <a:t>Beds never above room capacity</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Trigger</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N-06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1400" dirty="0">
                          <a:solidFill>
                            <a:srgbClr val="1B1F2A"/>
                          </a:solidFill>
                        </a:rPr>
                        <a:t>Visitors only for residents</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Trigger</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N-07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2"/>
          <p:cNvSpPr txBox="1"/>
          <p:nvPr/>
        </p:nvSpPr>
        <p:spPr>
          <a:xfrm>
            <a:off x="457200" y="4370832"/>
            <a:ext cx="8229600" cy="320040"/>
          </a:xfrm>
          <a:prstGeom prst="rect">
            <a:avLst/>
          </a:prstGeom>
          <a:noFill/>
          <a:ln/>
        </p:spPr>
        <p:txBody>
          <a:bodyPr wrap="square" lIns="0" tIns="0" rIns="0" bIns="0" rtlCol="0" anchor="ctr"/>
          <a:lstStyle/>
          <a:p>
            <a:pPr marL="0" indent="0">
              <a:buNone/>
            </a:pPr>
            <a:r>
              <a:rPr lang="en-US" sz="1400" i="1" dirty="0">
                <a:solidFill>
                  <a:schemeClr val="accent5"/>
                </a:solidFill>
              </a:rPr>
              <a:t>11 of 11 rule-breaking statements were rejected by the database.</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DATABASE RULES AND RESULTS</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Database results (MySQL)</a:t>
            </a:r>
            <a:endParaRPr lang="en-US" sz="2800" dirty="0"/>
          </a:p>
        </p:txBody>
      </p:sp>
      <p:pic>
        <p:nvPicPr>
          <p:cNvPr id="5" name="Image 0" descr="MySQL result: students table with 3 records"/>
          <p:cNvPicPr>
            <a:picLocks noChangeAspect="1"/>
          </p:cNvPicPr>
          <p:nvPr/>
        </p:nvPicPr>
        <p:blipFill>
          <a:blip r:embed="rId3"/>
          <a:stretch>
            <a:fillRect/>
          </a:stretch>
        </p:blipFill>
        <p:spPr>
          <a:xfrm>
            <a:off x="457200" y="1234440"/>
            <a:ext cx="8229600" cy="949800"/>
          </a:xfrm>
          <a:prstGeom prst="rect">
            <a:avLst/>
          </a:prstGeom>
        </p:spPr>
      </p:pic>
      <p:sp>
        <p:nvSpPr>
          <p:cNvPr id="6" name="screenshot frame"/>
          <p:cNvSpPr/>
          <p:nvPr/>
        </p:nvSpPr>
        <p:spPr>
          <a:xfrm>
            <a:off x="457200" y="1234440"/>
            <a:ext cx="8229600" cy="949800"/>
          </a:xfrm>
          <a:prstGeom prst="rect">
            <a:avLst/>
          </a:prstGeom>
          <a:ln w="9525">
            <a:solidFill>
              <a:srgbClr val="C9D1DC"/>
            </a:solidFill>
            <a:prstDash val="solid"/>
          </a:ln>
        </p:spPr>
      </p:sp>
      <p:sp>
        <p:nvSpPr>
          <p:cNvPr id="7" name="Text 3"/>
          <p:cNvSpPr txBox="1"/>
          <p:nvPr/>
        </p:nvSpPr>
        <p:spPr>
          <a:xfrm>
            <a:off x="457200" y="2239104"/>
            <a:ext cx="8229600" cy="274320"/>
          </a:xfrm>
          <a:prstGeom prst="rect">
            <a:avLst/>
          </a:prstGeom>
          <a:noFill/>
          <a:ln/>
        </p:spPr>
        <p:txBody>
          <a:bodyPr wrap="square" lIns="0" tIns="0" rIns="0" bIns="0" rtlCol="0" anchor="ctr"/>
          <a:lstStyle/>
          <a:p>
            <a:pPr marL="0" indent="0">
              <a:buNone/>
            </a:pPr>
            <a:r>
              <a:rPr lang="en-US" sz="1200" i="1" dirty="0">
                <a:solidFill>
                  <a:schemeClr val="accent5"/>
                </a:solidFill>
              </a:rPr>
              <a:t>students: 3 records (2 Active, 1 Pending)</a:t>
            </a:r>
            <a:endParaRPr lang="en-US" sz="1200" dirty="0"/>
          </a:p>
        </p:txBody>
      </p:sp>
      <p:pic>
        <p:nvPicPr>
          <p:cNvPr id="8" name="Image 1" descr="MySQL result: rooms table with 3 records"/>
          <p:cNvPicPr>
            <a:picLocks noChangeAspect="1"/>
          </p:cNvPicPr>
          <p:nvPr/>
        </p:nvPicPr>
        <p:blipFill>
          <a:blip r:embed="rId4"/>
          <a:stretch>
            <a:fillRect/>
          </a:stretch>
        </p:blipFill>
        <p:spPr>
          <a:xfrm>
            <a:off x="457200" y="2834640"/>
            <a:ext cx="4572000" cy="1096248"/>
          </a:xfrm>
          <a:prstGeom prst="rect">
            <a:avLst/>
          </a:prstGeom>
        </p:spPr>
      </p:pic>
      <p:sp>
        <p:nvSpPr>
          <p:cNvPr id="9" name="screenshot frame"/>
          <p:cNvSpPr/>
          <p:nvPr/>
        </p:nvSpPr>
        <p:spPr>
          <a:xfrm>
            <a:off x="457200" y="2834640"/>
            <a:ext cx="4572000" cy="1096248"/>
          </a:xfrm>
          <a:prstGeom prst="rect">
            <a:avLst/>
          </a:prstGeom>
          <a:ln w="9525">
            <a:solidFill>
              <a:srgbClr val="C9D1DC"/>
            </a:solidFill>
            <a:prstDash val="solid"/>
          </a:ln>
        </p:spPr>
      </p:sp>
      <p:sp>
        <p:nvSpPr>
          <p:cNvPr id="10" name="Text 5"/>
          <p:cNvSpPr txBox="1"/>
          <p:nvPr/>
        </p:nvSpPr>
        <p:spPr>
          <a:xfrm>
            <a:off x="457200" y="3985752"/>
            <a:ext cx="4572000" cy="274320"/>
          </a:xfrm>
          <a:prstGeom prst="rect">
            <a:avLst/>
          </a:prstGeom>
          <a:noFill/>
          <a:ln/>
        </p:spPr>
        <p:txBody>
          <a:bodyPr wrap="square" lIns="0" tIns="0" rIns="0" bIns="0" rtlCol="0" anchor="ctr"/>
          <a:lstStyle/>
          <a:p>
            <a:pPr marL="0" indent="0">
              <a:buNone/>
            </a:pPr>
            <a:r>
              <a:rPr lang="en-US" sz="1200" i="1" dirty="0">
                <a:solidFill>
                  <a:schemeClr val="accent5"/>
                </a:solidFill>
              </a:rPr>
              <a:t>rooms: 3 records, total capacity 7 beds</a:t>
            </a:r>
            <a:endParaRPr lang="en-US" sz="1200" dirty="0"/>
          </a:p>
        </p:txBody>
      </p:sp>
      <p:pic>
        <p:nvPicPr>
          <p:cNvPr id="11" name="Image 2" descr="MySQL result: beds table with 7 records"/>
          <p:cNvPicPr>
            <a:picLocks noChangeAspect="1"/>
          </p:cNvPicPr>
          <p:nvPr/>
        </p:nvPicPr>
        <p:blipFill>
          <a:blip r:embed="rId5"/>
          <a:stretch>
            <a:fillRect/>
          </a:stretch>
        </p:blipFill>
        <p:spPr>
          <a:xfrm>
            <a:off x="5669280" y="2514600"/>
            <a:ext cx="2846849" cy="1783080"/>
          </a:xfrm>
          <a:prstGeom prst="rect">
            <a:avLst/>
          </a:prstGeom>
        </p:spPr>
      </p:pic>
      <p:sp>
        <p:nvSpPr>
          <p:cNvPr id="12" name="screenshot frame"/>
          <p:cNvSpPr/>
          <p:nvPr/>
        </p:nvSpPr>
        <p:spPr>
          <a:xfrm>
            <a:off x="5669280" y="2514600"/>
            <a:ext cx="2846849" cy="1783080"/>
          </a:xfrm>
          <a:prstGeom prst="rect">
            <a:avLst/>
          </a:prstGeom>
          <a:ln w="9525">
            <a:solidFill>
              <a:srgbClr val="C9D1DC"/>
            </a:solidFill>
            <a:prstDash val="solid"/>
          </a:ln>
        </p:spPr>
      </p:sp>
      <p:sp>
        <p:nvSpPr>
          <p:cNvPr id="13" name="Text 7"/>
          <p:cNvSpPr txBox="1"/>
          <p:nvPr/>
        </p:nvSpPr>
        <p:spPr>
          <a:xfrm>
            <a:off x="5669280" y="4352544"/>
            <a:ext cx="3017520" cy="274320"/>
          </a:xfrm>
          <a:prstGeom prst="rect">
            <a:avLst/>
          </a:prstGeom>
          <a:noFill/>
          <a:ln/>
        </p:spPr>
        <p:txBody>
          <a:bodyPr wrap="square" lIns="0" tIns="0" rIns="0" bIns="0" rtlCol="0" anchor="ctr"/>
          <a:lstStyle/>
          <a:p>
            <a:pPr marL="0" indent="0">
              <a:buNone/>
            </a:pPr>
            <a:r>
              <a:rPr lang="en-US" sz="1200" i="1" dirty="0">
                <a:solidFill>
                  <a:schemeClr val="accent5"/>
                </a:solidFill>
              </a:rPr>
              <a:t>beds: 7 records (4 Occupied, 3 Available)</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HOSTELHUB INTERFACE</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Dashboard</a:t>
            </a:r>
            <a:endParaRPr lang="en-US" sz="2800" dirty="0"/>
          </a:p>
        </p:txBody>
      </p:sp>
      <p:sp>
        <p:nvSpPr>
          <p:cNvPr id="5" name="Text 2"/>
          <p:cNvSpPr txBox="1"/>
          <p:nvPr/>
        </p:nvSpPr>
        <p:spPr>
          <a:xfrm>
            <a:off x="457200" y="1325880"/>
            <a:ext cx="2926080" cy="320040"/>
          </a:xfrm>
          <a:prstGeom prst="rect">
            <a:avLst/>
          </a:prstGeom>
          <a:noFill/>
          <a:ln/>
        </p:spPr>
        <p:txBody>
          <a:bodyPr wrap="square" lIns="0" tIns="0" rIns="0" bIns="0" rtlCol="0" anchor="ctr"/>
          <a:lstStyle/>
          <a:p>
            <a:pPr marL="0" indent="0">
              <a:buNone/>
            </a:pPr>
            <a:r>
              <a:rPr lang="en-US" sz="1600" b="1" dirty="0">
                <a:solidFill>
                  <a:schemeClr val="tx2"/>
                </a:solidFill>
              </a:rPr>
              <a:t>What it does</a:t>
            </a:r>
            <a:endParaRPr lang="en-US" sz="1600" dirty="0"/>
          </a:p>
        </p:txBody>
      </p:sp>
      <p:sp>
        <p:nvSpPr>
          <p:cNvPr id="6" name="Text 3"/>
          <p:cNvSpPr txBox="1"/>
          <p:nvPr/>
        </p:nvSpPr>
        <p:spPr>
          <a:xfrm>
            <a:off x="457200" y="1737360"/>
            <a:ext cx="2926080" cy="27432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Seven screens: dashboard, students, rooms and beds, allocations, complaints, visitor log and reports</a:t>
            </a:r>
            <a:endParaRPr lang="en-US" sz="1400" dirty="0"/>
          </a:p>
          <a:p>
            <a:pPr marL="342900" indent="-342900">
              <a:spcAft>
                <a:spcPts val="1000"/>
              </a:spcAft>
              <a:buSzPct val="100000"/>
              <a:buChar char="•"/>
            </a:pPr>
            <a:r>
              <a:rPr lang="en-US" sz="1400" dirty="0">
                <a:solidFill>
                  <a:schemeClr val="tx1"/>
                </a:solidFill>
              </a:rPr>
              <a:t>64% bed occupancy: 9 of 14 beds occupied, 5 available</a:t>
            </a:r>
            <a:endParaRPr lang="en-US" sz="1400" dirty="0"/>
          </a:p>
          <a:p>
            <a:pPr marL="342900" indent="-342900">
              <a:spcAft>
                <a:spcPts val="1000"/>
              </a:spcAft>
              <a:buSzPct val="100000"/>
              <a:buChar char="•"/>
            </a:pPr>
            <a:r>
              <a:rPr lang="en-US" sz="1400" dirty="0">
                <a:solidFill>
                  <a:schemeClr val="tx1"/>
                </a:solidFill>
              </a:rPr>
              <a:t>4 registered students and 2 open complaints</a:t>
            </a:r>
            <a:endParaRPr lang="en-US" sz="1400" dirty="0"/>
          </a:p>
          <a:p>
            <a:pPr marL="342900" indent="-342900">
              <a:spcAft>
                <a:spcPts val="1000"/>
              </a:spcAft>
              <a:buSzPct val="100000"/>
              <a:buChar char="•"/>
            </a:pPr>
            <a:r>
              <a:rPr lang="en-US" sz="1400" dirty="0">
                <a:solidFill>
                  <a:schemeClr val="tx1"/>
                </a:solidFill>
              </a:rPr>
              <a:t>Figures update as soon as a bed is allocated or a complaint is resolved</a:t>
            </a:r>
            <a:endParaRPr lang="en-US" sz="1400" dirty="0"/>
          </a:p>
        </p:txBody>
      </p:sp>
      <p:pic>
        <p:nvPicPr>
          <p:cNvPr id="7" name="Image 0" descr="HostelHub dashboard"/>
          <p:cNvPicPr>
            <a:picLocks noChangeAspect="1"/>
          </p:cNvPicPr>
          <p:nvPr/>
        </p:nvPicPr>
        <p:blipFill>
          <a:blip r:embed="rId3"/>
          <a:stretch>
            <a:fillRect/>
          </a:stretch>
        </p:blipFill>
        <p:spPr>
          <a:xfrm>
            <a:off x="4536141" y="1280160"/>
            <a:ext cx="3272118" cy="3337560"/>
          </a:xfrm>
          <a:prstGeom prst="rect">
            <a:avLst/>
          </a:prstGeom>
        </p:spPr>
      </p:pic>
      <p:sp>
        <p:nvSpPr>
          <p:cNvPr id="8" name="screenshot frame"/>
          <p:cNvSpPr/>
          <p:nvPr/>
        </p:nvSpPr>
        <p:spPr>
          <a:xfrm>
            <a:off x="4536141" y="1280160"/>
            <a:ext cx="3272118" cy="3337560"/>
          </a:xfrm>
          <a:prstGeom prst="rect">
            <a:avLst/>
          </a:prstGeom>
          <a:ln w="9525">
            <a:solidFill>
              <a:srgbClr val="C9D1DC"/>
            </a:solidFill>
            <a:prstDash val="solid"/>
          </a:ln>
        </p:spPr>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HOSTELHUB INTERFACE</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Bed allocation</a:t>
            </a:r>
            <a:endParaRPr lang="en-US" sz="2800" dirty="0"/>
          </a:p>
        </p:txBody>
      </p:sp>
      <p:sp>
        <p:nvSpPr>
          <p:cNvPr id="5" name="Text 2"/>
          <p:cNvSpPr txBox="1"/>
          <p:nvPr/>
        </p:nvSpPr>
        <p:spPr>
          <a:xfrm>
            <a:off x="457200" y="1325880"/>
            <a:ext cx="2926080" cy="320040"/>
          </a:xfrm>
          <a:prstGeom prst="rect">
            <a:avLst/>
          </a:prstGeom>
          <a:noFill/>
          <a:ln/>
        </p:spPr>
        <p:txBody>
          <a:bodyPr wrap="square" lIns="0" tIns="0" rIns="0" bIns="0" rtlCol="0" anchor="ctr"/>
          <a:lstStyle/>
          <a:p>
            <a:pPr marL="0" indent="0">
              <a:buNone/>
            </a:pPr>
            <a:r>
              <a:rPr lang="en-US" sz="1600" b="1" dirty="0">
                <a:solidFill>
                  <a:schemeClr val="tx2"/>
                </a:solidFill>
              </a:rPr>
              <a:t>What it does</a:t>
            </a:r>
            <a:endParaRPr lang="en-US" sz="1600" dirty="0"/>
          </a:p>
        </p:txBody>
      </p:sp>
      <p:sp>
        <p:nvSpPr>
          <p:cNvPr id="6" name="Text 3"/>
          <p:cNvSpPr txBox="1"/>
          <p:nvPr/>
        </p:nvSpPr>
        <p:spPr>
          <a:xfrm>
            <a:off x="457200" y="1737360"/>
            <a:ext cx="2926080" cy="27432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Only students without a room are offered</a:t>
            </a:r>
            <a:endParaRPr lang="en-US" sz="1400" dirty="0"/>
          </a:p>
          <a:p>
            <a:pPr marL="342900" indent="-342900">
              <a:spcAft>
                <a:spcPts val="1000"/>
              </a:spcAft>
              <a:buSzPct val="100000"/>
              <a:buChar char="•"/>
            </a:pPr>
            <a:r>
              <a:rPr lang="en-US" sz="1400" dirty="0">
                <a:solidFill>
                  <a:schemeClr val="tx1"/>
                </a:solidFill>
              </a:rPr>
              <a:t>Only rooms with a free bed are offered</a:t>
            </a:r>
            <a:endParaRPr lang="en-US" sz="1400" dirty="0"/>
          </a:p>
          <a:p>
            <a:pPr marL="342900" indent="-342900">
              <a:spcAft>
                <a:spcPts val="1000"/>
              </a:spcAft>
              <a:buSzPct val="100000"/>
              <a:buChar char="•"/>
            </a:pPr>
            <a:r>
              <a:rPr lang="en-US" sz="1400" dirty="0">
                <a:solidFill>
                  <a:schemeClr val="tx1"/>
                </a:solidFill>
              </a:rPr>
              <a:t>A full room can never be chosen</a:t>
            </a:r>
            <a:endParaRPr lang="en-US" sz="1400" dirty="0"/>
          </a:p>
          <a:p>
            <a:pPr marL="342900" indent="-342900">
              <a:spcAft>
                <a:spcPts val="1000"/>
              </a:spcAft>
              <a:buSzPct val="100000"/>
              <a:buChar char="•"/>
            </a:pPr>
            <a:r>
              <a:rPr lang="en-US" sz="1400" dirty="0">
                <a:solidFill>
                  <a:schemeClr val="tx1"/>
                </a:solidFill>
              </a:rPr>
              <a:t>Occupancy and the register update at once</a:t>
            </a:r>
            <a:endParaRPr lang="en-US" sz="1400" dirty="0"/>
          </a:p>
        </p:txBody>
      </p:sp>
      <p:pic>
        <p:nvPicPr>
          <p:cNvPr id="7" name="Image 0" descr="HostelHub after allocating a bed"/>
          <p:cNvPicPr>
            <a:picLocks noChangeAspect="1"/>
          </p:cNvPicPr>
          <p:nvPr/>
        </p:nvPicPr>
        <p:blipFill>
          <a:blip r:embed="rId3"/>
          <a:stretch>
            <a:fillRect/>
          </a:stretch>
        </p:blipFill>
        <p:spPr>
          <a:xfrm>
            <a:off x="3669030" y="1280160"/>
            <a:ext cx="5006340" cy="3337560"/>
          </a:xfrm>
          <a:prstGeom prst="rect">
            <a:avLst/>
          </a:prstGeom>
        </p:spPr>
      </p:pic>
      <p:sp>
        <p:nvSpPr>
          <p:cNvPr id="8" name="screenshot frame"/>
          <p:cNvSpPr/>
          <p:nvPr/>
        </p:nvSpPr>
        <p:spPr>
          <a:xfrm>
            <a:off x="3669030" y="1280160"/>
            <a:ext cx="5006340" cy="3337560"/>
          </a:xfrm>
          <a:prstGeom prst="rect">
            <a:avLst/>
          </a:prstGeom>
          <a:ln w="9525">
            <a:solidFill>
              <a:srgbClr val="C9D1DC"/>
            </a:solidFill>
            <a:prstDash val="solid"/>
          </a:ln>
        </p:spPr>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HOSTELHUB INTERFACE</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Complaints and maintenance</a:t>
            </a:r>
            <a:endParaRPr lang="en-US" sz="2800" dirty="0"/>
          </a:p>
        </p:txBody>
      </p:sp>
      <p:sp>
        <p:nvSpPr>
          <p:cNvPr id="5" name="Text 2"/>
          <p:cNvSpPr txBox="1"/>
          <p:nvPr/>
        </p:nvSpPr>
        <p:spPr>
          <a:xfrm>
            <a:off x="457200" y="1325880"/>
            <a:ext cx="2926080" cy="320040"/>
          </a:xfrm>
          <a:prstGeom prst="rect">
            <a:avLst/>
          </a:prstGeom>
          <a:noFill/>
          <a:ln/>
        </p:spPr>
        <p:txBody>
          <a:bodyPr wrap="square" lIns="0" tIns="0" rIns="0" bIns="0" rtlCol="0" anchor="ctr"/>
          <a:lstStyle/>
          <a:p>
            <a:pPr marL="0" indent="0">
              <a:buNone/>
            </a:pPr>
            <a:r>
              <a:rPr lang="en-US" sz="1600" b="1" dirty="0">
                <a:solidFill>
                  <a:schemeClr val="tx2"/>
                </a:solidFill>
              </a:rPr>
              <a:t>What it does</a:t>
            </a:r>
            <a:endParaRPr lang="en-US" sz="1600" dirty="0"/>
          </a:p>
        </p:txBody>
      </p:sp>
      <p:sp>
        <p:nvSpPr>
          <p:cNvPr id="6" name="Text 3"/>
          <p:cNvSpPr txBox="1"/>
          <p:nvPr/>
        </p:nvSpPr>
        <p:spPr>
          <a:xfrm>
            <a:off x="457200" y="1737360"/>
            <a:ext cx="2926080" cy="27432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Category, priority and status for every request</a:t>
            </a:r>
            <a:endParaRPr lang="en-US" sz="1400" dirty="0"/>
          </a:p>
          <a:p>
            <a:pPr marL="342900" indent="-342900">
              <a:spcAft>
                <a:spcPts val="1000"/>
              </a:spcAft>
              <a:buSzPct val="100000"/>
              <a:buChar char="•"/>
            </a:pPr>
            <a:r>
              <a:rPr lang="en-US" sz="1400" dirty="0">
                <a:solidFill>
                  <a:schemeClr val="tx1"/>
                </a:solidFill>
              </a:rPr>
              <a:t>Status moves from Open to Resolved</a:t>
            </a:r>
            <a:endParaRPr lang="en-US" sz="1400" dirty="0"/>
          </a:p>
          <a:p>
            <a:pPr marL="342900" indent="-342900">
              <a:spcAft>
                <a:spcPts val="1000"/>
              </a:spcAft>
              <a:buSzPct val="100000"/>
              <a:buChar char="•"/>
            </a:pPr>
            <a:r>
              <a:rPr lang="en-US" sz="1400" dirty="0">
                <a:solidFill>
                  <a:schemeClr val="tx1"/>
                </a:solidFill>
              </a:rPr>
              <a:t>Summary cards show open, in-progress and resolved counts</a:t>
            </a:r>
            <a:endParaRPr lang="en-US" sz="1400" dirty="0"/>
          </a:p>
        </p:txBody>
      </p:sp>
      <p:pic>
        <p:nvPicPr>
          <p:cNvPr id="7" name="Image 0" descr="HostelHub complaint marked as resolved"/>
          <p:cNvPicPr>
            <a:picLocks noChangeAspect="1"/>
          </p:cNvPicPr>
          <p:nvPr/>
        </p:nvPicPr>
        <p:blipFill>
          <a:blip r:embed="rId3"/>
          <a:stretch>
            <a:fillRect/>
          </a:stretch>
        </p:blipFill>
        <p:spPr>
          <a:xfrm>
            <a:off x="3684578" y="1280160"/>
            <a:ext cx="4975245" cy="3337560"/>
          </a:xfrm>
          <a:prstGeom prst="rect">
            <a:avLst/>
          </a:prstGeom>
        </p:spPr>
      </p:pic>
      <p:sp>
        <p:nvSpPr>
          <p:cNvPr id="8" name="screenshot frame"/>
          <p:cNvSpPr/>
          <p:nvPr/>
        </p:nvSpPr>
        <p:spPr>
          <a:xfrm>
            <a:off x="3684578" y="1280160"/>
            <a:ext cx="4975245" cy="3337560"/>
          </a:xfrm>
          <a:prstGeom prst="rect">
            <a:avLst/>
          </a:prstGeom>
          <a:ln w="9525">
            <a:solidFill>
              <a:srgbClr val="C9D1DC"/>
            </a:solidFill>
            <a:prstDash val="solid"/>
          </a:ln>
        </p:spPr>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RESULTS</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Testing and results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1645920"/>
        </p:xfrm>
        <a:graphic>
          <a:graphicData uri="http://schemas.openxmlformats.org/drawingml/2006/table">
            <a:tbl>
              <a:tblPr/>
              <a:tblGrid>
                <a:gridCol w="42062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411480">
                <a:tc>
                  <a:txBody>
                    <a:bodyPr/>
                    <a:lstStyle/>
                    <a:p>
                      <a:pPr marL="0" indent="0">
                        <a:buNone/>
                      </a:pPr>
                      <a:r>
                        <a:rPr lang="en-US" sz="1400" b="1" dirty="0">
                          <a:solidFill>
                            <a:srgbClr val="FFFFFF"/>
                          </a:solidFill>
                        </a:rPr>
                        <a:t>Area</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Tests</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tc>
                  <a:txBody>
                    <a:bodyPr/>
                    <a:lstStyle/>
                    <a:p>
                      <a:pPr marL="0" indent="0">
                        <a:buNone/>
                      </a:pPr>
                      <a:r>
                        <a:rPr lang="en-US" sz="1400" b="1" dirty="0">
                          <a:solidFill>
                            <a:srgbClr val="FFFFFF"/>
                          </a:solidFill>
                        </a:rPr>
                        <a:t>Result</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11480">
                <a:tc>
                  <a:txBody>
                    <a:bodyPr/>
                    <a:lstStyle/>
                    <a:p>
                      <a:pPr marL="0" indent="0">
                        <a:buNone/>
                      </a:pPr>
                      <a:r>
                        <a:rPr lang="en-US" sz="1400" dirty="0">
                          <a:solidFill>
                            <a:srgbClr val="1B1F2A"/>
                          </a:solidFill>
                        </a:rPr>
                        <a:t>HostelHub interface</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18</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All passed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400" dirty="0">
                          <a:solidFill>
                            <a:srgbClr val="1B1F2A"/>
                          </a:solidFill>
                        </a:rPr>
                        <a:t>Database rule violations</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11</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All rejected</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400" dirty="0">
                          <a:solidFill>
                            <a:srgbClr val="1B1F2A"/>
                          </a:solidFill>
                        </a:rPr>
                        <a:t>JavaScript errors during the run</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400" dirty="0">
                          <a:solidFill>
                            <a:srgbClr val="1B1F2A"/>
                          </a:solidFill>
                        </a:rPr>
                        <a:t>None</a:t>
                      </a:r>
                      <a:endParaRPr lang="en-US" sz="14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2"/>
          <p:cNvSpPr txBox="1"/>
          <p:nvPr/>
        </p:nvSpPr>
        <p:spPr>
          <a:xfrm>
            <a:off x="457200" y="3017520"/>
            <a:ext cx="8229600" cy="274320"/>
          </a:xfrm>
          <a:prstGeom prst="rect">
            <a:avLst/>
          </a:prstGeom>
          <a:noFill/>
          <a:ln/>
        </p:spPr>
        <p:txBody>
          <a:bodyPr wrap="square" lIns="0" tIns="0" rIns="0" bIns="0" rtlCol="0" anchor="ctr"/>
          <a:lstStyle/>
          <a:p>
            <a:pPr marL="0" indent="0">
              <a:buNone/>
            </a:pPr>
            <a:r>
              <a:rPr lang="en-US" sz="1600" b="1" dirty="0">
                <a:solidFill>
                  <a:schemeClr val="tx2"/>
                </a:solidFill>
              </a:rPr>
              <a:t>Selected tests</a:t>
            </a:r>
            <a:endParaRPr lang="en-US" sz="16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57200" y="3337560"/>
          <a:ext cx="8229600" cy="1280160"/>
        </p:xfrm>
        <a:graphic>
          <a:graphicData uri="http://schemas.openxmlformats.org/drawingml/2006/table">
            <a:tbl>
              <a:tblPr/>
              <a:tblGrid>
                <a:gridCol w="1097280">
                  <a:extLst>
                    <a:ext uri="{9D8B030D-6E8A-4147-A177-3AD203B41FA5}">
                      <a16:colId xmlns:a16="http://schemas.microsoft.com/office/drawing/2014/main" val="20000"/>
                    </a:ext>
                  </a:extLst>
                </a:gridCol>
                <a:gridCol w="7132320">
                  <a:extLst>
                    <a:ext uri="{9D8B030D-6E8A-4147-A177-3AD203B41FA5}">
                      <a16:colId xmlns:a16="http://schemas.microsoft.com/office/drawing/2014/main" val="20001"/>
                    </a:ext>
                  </a:extLst>
                </a:gridCol>
              </a:tblGrid>
              <a:tr h="320040">
                <a:tc>
                  <a:txBody>
                    <a:bodyPr/>
                    <a:lstStyle/>
                    <a:p>
                      <a:pPr marL="0" indent="0">
                        <a:buNone/>
                      </a:pPr>
                      <a:r>
                        <a:rPr lang="en-US" sz="1300" dirty="0">
                          <a:solidFill>
                            <a:srgbClr val="1B1F2A"/>
                          </a:solidFill>
                        </a:rPr>
                        <a:t>HT-09</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300" dirty="0">
                          <a:solidFill>
                            <a:srgbClr val="1B1F2A"/>
                          </a:solidFill>
                        </a:rPr>
                        <a:t>Only rooms with a free bed are offered (4 of 6)</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0"/>
                  </a:ext>
                </a:extLst>
              </a:tr>
              <a:tr h="320040">
                <a:tc>
                  <a:txBody>
                    <a:bodyPr/>
                    <a:lstStyle/>
                    <a:p>
                      <a:pPr marL="0" indent="0">
                        <a:buNone/>
                      </a:pPr>
                      <a:r>
                        <a:rPr lang="en-US" sz="1300" dirty="0">
                          <a:solidFill>
                            <a:srgbClr val="1B1F2A"/>
                          </a:solidFill>
                        </a:rPr>
                        <a:t>HT-13</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300" dirty="0">
                          <a:solidFill>
                            <a:srgbClr val="1B1F2A"/>
                          </a:solidFill>
                        </a:rPr>
                        <a:t>No unallocated students: confirm button disabled</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300" dirty="0">
                          <a:solidFill>
                            <a:srgbClr val="1B1F2A"/>
                          </a:solidFill>
                        </a:rPr>
                        <a:t>N-03</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300" dirty="0">
                          <a:solidFill>
                            <a:srgbClr val="1B1F2A"/>
                          </a:solidFill>
                        </a:rPr>
                        <a:t>Male student in a female block rejected by trigger</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300" dirty="0">
                          <a:solidFill>
                            <a:srgbClr val="1B1F2A"/>
                          </a:solidFill>
                        </a:rPr>
                        <a:t>N-05</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tc>
                  <a:txBody>
                    <a:bodyPr/>
                    <a:lstStyle/>
                    <a:p>
                      <a:pPr marL="0" indent="0">
                        <a:buNone/>
                      </a:pPr>
                      <a:r>
                        <a:rPr lang="en-US" sz="1300" dirty="0">
                          <a:solidFill>
                            <a:srgbClr val="1B1F2A"/>
                          </a:solidFill>
                        </a:rPr>
                        <a:t>Payment above the billed fee rejected by trigger</a:t>
                      </a:r>
                      <a:endParaRPr lang="en-US" sz="1300" dirty="0"/>
                    </a:p>
                  </a:txBody>
                  <a:tcPr marL="109728" marR="109728" marT="0" marB="0" anchor="ctr">
                    <a:lnL w="9525" cap="flat" cmpd="sng" algn="ctr">
                      <a:solidFill>
                        <a:srgbClr val="D3D9E3"/>
                      </a:solidFill>
                      <a:prstDash val="solid"/>
                      <a:round/>
                      <a:headEnd type="none" w="med" len="med"/>
                      <a:tailEnd type="none" w="med" len="med"/>
                    </a:lnL>
                    <a:lnR w="9525" cap="flat" cmpd="sng" algn="ctr">
                      <a:solidFill>
                        <a:srgbClr val="D3D9E3"/>
                      </a:solidFill>
                      <a:prstDash val="solid"/>
                      <a:round/>
                      <a:headEnd type="none" w="med" len="med"/>
                      <a:tailEnd type="none" w="med" len="med"/>
                    </a:lnR>
                    <a:lnT w="9525" cap="flat" cmpd="sng" algn="ctr">
                      <a:solidFill>
                        <a:srgbClr val="D3D9E3"/>
                      </a:solidFill>
                      <a:prstDash val="solid"/>
                      <a:round/>
                      <a:headEnd type="none" w="med" len="med"/>
                      <a:tailEnd type="none" w="med" len="med"/>
                    </a:lnT>
                    <a:lnB w="9525" cap="flat" cmpd="sng" algn="ctr">
                      <a:solidFill>
                        <a:srgbClr val="D3D9E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5486400" cy="228600"/>
          </a:xfrm>
          <a:prstGeom prst="rect">
            <a:avLst/>
          </a:prstGeom>
          <a:noFill/>
          <a:ln/>
        </p:spPr>
        <p:txBody>
          <a:bodyPr wrap="square" lIns="0" tIns="0" rIns="0" bIns="0" rtlCol="0" anchor="ctr"/>
          <a:lstStyle/>
          <a:p>
            <a:pPr marL="0" indent="0">
              <a:buNone/>
            </a:pPr>
            <a:r>
              <a:rPr lang="en-US" sz="1100" b="1" kern="0" spc="200" dirty="0">
                <a:solidFill>
                  <a:schemeClr val="accent1"/>
                </a:solidFill>
              </a:rPr>
              <a:t>RESULTS</a:t>
            </a:r>
            <a:endParaRPr lang="en-US" sz="1100" dirty="0"/>
          </a:p>
        </p:txBody>
      </p:sp>
      <p:sp>
        <p:nvSpPr>
          <p:cNvPr id="3" name="Text 1"/>
          <p:cNvSpPr>
            <a:spLocks noGrp="1"/>
          </p:cNvSpPr>
          <p:nvPr>
            <p:ph type="title" idx="101" hasCustomPrompt="1"/>
          </p:nvPr>
        </p:nvSpPr>
        <p:spPr>
          <a:xfrm>
            <a:off x="457200" y="502920"/>
            <a:ext cx="8229600" cy="594360"/>
          </a:xfrm>
          <a:prstGeom prst="rect">
            <a:avLst/>
          </a:prstGeom>
          <a:noFill/>
          <a:ln/>
        </p:spPr>
        <p:txBody>
          <a:bodyPr wrap="square" lIns="0" tIns="0" rIns="0" bIns="0" rtlCol="0" anchor="t"/>
          <a:lstStyle/>
          <a:p>
            <a:pPr marL="0" indent="0" algn="l">
              <a:buNone/>
            </a:pPr>
            <a:r>
              <a:rPr lang="en-US" sz="2800" b="1" dirty="0">
                <a:solidFill>
                  <a:schemeClr val="tx2"/>
                </a:solidFill>
              </a:rPr>
              <a:t>Conclusion and future scope</a:t>
            </a:r>
            <a:endParaRPr lang="en-US" sz="2800" dirty="0"/>
          </a:p>
        </p:txBody>
      </p:sp>
      <p:sp>
        <p:nvSpPr>
          <p:cNvPr id="5" name="Text 2"/>
          <p:cNvSpPr txBox="1"/>
          <p:nvPr/>
        </p:nvSpPr>
        <p:spPr>
          <a:xfrm>
            <a:off x="457200" y="1325880"/>
            <a:ext cx="3840480" cy="365760"/>
          </a:xfrm>
          <a:prstGeom prst="rect">
            <a:avLst/>
          </a:prstGeom>
          <a:noFill/>
          <a:ln/>
        </p:spPr>
        <p:txBody>
          <a:bodyPr wrap="square" lIns="0" tIns="0" rIns="0" bIns="0" rtlCol="0" anchor="ctr"/>
          <a:lstStyle/>
          <a:p>
            <a:pPr marL="0" indent="0">
              <a:buNone/>
            </a:pPr>
            <a:r>
              <a:rPr lang="en-US" sz="1800" b="1" dirty="0">
                <a:solidFill>
                  <a:schemeClr val="tx2"/>
                </a:solidFill>
              </a:rPr>
              <a:t>Conclusion</a:t>
            </a:r>
            <a:endParaRPr lang="en-US" sz="1800" dirty="0"/>
          </a:p>
        </p:txBody>
      </p:sp>
      <p:sp>
        <p:nvSpPr>
          <p:cNvPr id="6" name="Text 3"/>
          <p:cNvSpPr txBox="1"/>
          <p:nvPr/>
        </p:nvSpPr>
        <p:spPr>
          <a:xfrm>
            <a:off x="457200" y="1783080"/>
            <a:ext cx="3840480" cy="20116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17-entity design normalised to 3NF</a:t>
            </a:r>
            <a:endParaRPr lang="en-US" sz="1600" dirty="0"/>
          </a:p>
          <a:p>
            <a:pPr marL="342900" indent="-342900">
              <a:spcAft>
                <a:spcPts val="1200"/>
              </a:spcAft>
              <a:buSzPct val="100000"/>
              <a:buChar char="•"/>
            </a:pPr>
            <a:r>
              <a:rPr lang="en-US" sz="1600" dirty="0">
                <a:solidFill>
                  <a:schemeClr val="tx1"/>
                </a:solidFill>
              </a:rPr>
              <a:t>SQL rules: constraints, triggers and views</a:t>
            </a:r>
            <a:endParaRPr lang="en-US" sz="1600" dirty="0"/>
          </a:p>
          <a:p>
            <a:pPr marL="342900" indent="-342900">
              <a:spcAft>
                <a:spcPts val="1200"/>
              </a:spcAft>
              <a:buSzPct val="100000"/>
              <a:buChar char="•"/>
            </a:pPr>
            <a:r>
              <a:rPr lang="en-US" sz="1600" dirty="0">
                <a:solidFill>
                  <a:schemeClr val="tx1"/>
                </a:solidFill>
              </a:rPr>
              <a:t>HostelHub with 7 screens</a:t>
            </a:r>
            <a:endParaRPr lang="en-US" sz="1600" dirty="0"/>
          </a:p>
          <a:p>
            <a:pPr marL="342900" indent="-342900">
              <a:spcAft>
                <a:spcPts val="1200"/>
              </a:spcAft>
              <a:buSzPct val="100000"/>
              <a:buChar char="•"/>
            </a:pPr>
            <a:r>
              <a:rPr lang="en-US" sz="1600" dirty="0">
                <a:solidFill>
                  <a:schemeClr val="tx1"/>
                </a:solidFill>
              </a:rPr>
              <a:t>29 tests passed: 18 interface, 11 database</a:t>
            </a:r>
            <a:endParaRPr lang="en-US" sz="1600" dirty="0"/>
          </a:p>
        </p:txBody>
      </p:sp>
      <p:sp>
        <p:nvSpPr>
          <p:cNvPr id="7" name="Text 4"/>
          <p:cNvSpPr txBox="1"/>
          <p:nvPr/>
        </p:nvSpPr>
        <p:spPr>
          <a:xfrm>
            <a:off x="4754880" y="1325880"/>
            <a:ext cx="3931920" cy="365760"/>
          </a:xfrm>
          <a:prstGeom prst="rect">
            <a:avLst/>
          </a:prstGeom>
          <a:noFill/>
          <a:ln/>
        </p:spPr>
        <p:txBody>
          <a:bodyPr wrap="square" lIns="0" tIns="0" rIns="0" bIns="0" rtlCol="0" anchor="ctr"/>
          <a:lstStyle/>
          <a:p>
            <a:pPr marL="0" indent="0">
              <a:buNone/>
            </a:pPr>
            <a:r>
              <a:rPr lang="en-US" sz="1800" b="1" dirty="0">
                <a:solidFill>
                  <a:schemeClr val="tx2"/>
                </a:solidFill>
              </a:rPr>
              <a:t>Future scope</a:t>
            </a:r>
            <a:endParaRPr lang="en-US" sz="1800" dirty="0"/>
          </a:p>
        </p:txBody>
      </p:sp>
      <p:sp>
        <p:nvSpPr>
          <p:cNvPr id="8" name="Text 5"/>
          <p:cNvSpPr txBox="1"/>
          <p:nvPr/>
        </p:nvSpPr>
        <p:spPr>
          <a:xfrm>
            <a:off x="4754880" y="1783080"/>
            <a:ext cx="3931920" cy="20116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Connect HostelHub to MySQL</a:t>
            </a:r>
            <a:endParaRPr lang="en-US" sz="1600" dirty="0"/>
          </a:p>
          <a:p>
            <a:pPr marL="342900" indent="-342900">
              <a:spcAft>
                <a:spcPts val="1200"/>
              </a:spcAft>
              <a:buSzPct val="100000"/>
              <a:buChar char="•"/>
            </a:pPr>
            <a:r>
              <a:rPr lang="en-US" sz="1600" dirty="0">
                <a:solidFill>
                  <a:schemeClr val="tx1"/>
                </a:solidFill>
              </a:rPr>
              <a:t>Fee, transfer and vacating screens</a:t>
            </a:r>
            <a:endParaRPr lang="en-US" sz="1600" dirty="0"/>
          </a:p>
          <a:p>
            <a:pPr marL="342900" indent="-342900">
              <a:spcAft>
                <a:spcPts val="1200"/>
              </a:spcAft>
              <a:buSzPct val="100000"/>
              <a:buChar char="•"/>
            </a:pPr>
            <a:r>
              <a:rPr lang="en-US" sz="1600" dirty="0">
                <a:solidFill>
                  <a:schemeClr val="tx1"/>
                </a:solidFill>
              </a:rPr>
              <a:t>Login with user roles</a:t>
            </a:r>
            <a:endParaRPr lang="en-US" sz="1600" dirty="0"/>
          </a:p>
          <a:p>
            <a:pPr marL="342900" indent="-342900">
              <a:spcAft>
                <a:spcPts val="1200"/>
              </a:spcAft>
              <a:buSzPct val="100000"/>
              <a:buChar char="•"/>
            </a:pPr>
            <a:r>
              <a:rPr lang="en-US" sz="1600" dirty="0">
                <a:solidFill>
                  <a:schemeClr val="tx1"/>
                </a:solidFill>
              </a:rPr>
              <a:t>Fee-due notices and report export</a:t>
            </a:r>
            <a:endParaRPr lang="en-US" sz="1600" dirty="0"/>
          </a:p>
        </p:txBody>
      </p:sp>
      <p:sp>
        <p:nvSpPr>
          <p:cNvPr id="9" name="Text 6"/>
          <p:cNvSpPr txBox="1"/>
          <p:nvPr/>
        </p:nvSpPr>
        <p:spPr>
          <a:xfrm>
            <a:off x="2750127" y="4055364"/>
            <a:ext cx="8229600" cy="457200"/>
          </a:xfrm>
          <a:prstGeom prst="rect">
            <a:avLst/>
          </a:prstGeom>
          <a:noFill/>
          <a:ln/>
        </p:spPr>
        <p:txBody>
          <a:bodyPr wrap="square" lIns="0" tIns="0" rIns="0" bIns="0" rtlCol="0" anchor="ctr"/>
          <a:lstStyle/>
          <a:p>
            <a:pPr marL="0" indent="0">
              <a:buNone/>
            </a:pPr>
            <a:endParaRPr lang="en-US" sz="2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E567B-F1EA-EAA1-47F8-799F3C058CC2}"/>
              </a:ext>
            </a:extLst>
          </p:cNvPr>
          <p:cNvSpPr>
            <a:spLocks noGrp="1"/>
          </p:cNvSpPr>
          <p:nvPr>
            <p:ph type="title" idx="101"/>
          </p:nvPr>
        </p:nvSpPr>
        <p:spPr/>
        <p:txBody>
          <a:bodyPr/>
          <a:lstStyle/>
          <a:p>
            <a:endParaRPr lang="en-IN"/>
          </a:p>
        </p:txBody>
      </p:sp>
      <p:pic>
        <p:nvPicPr>
          <p:cNvPr id="6" name="Picture 5">
            <a:extLst>
              <a:ext uri="{FF2B5EF4-FFF2-40B4-BE49-F238E27FC236}">
                <a16:creationId xmlns:a16="http://schemas.microsoft.com/office/drawing/2014/main" id="{D50E3DAE-9DDB-F984-3C10-99D50F54F601}"/>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3322911645"/>
      </p:ext>
    </p:extLst>
  </p:cSld>
  <p:clrMapOvr>
    <a:masterClrMapping/>
  </p:clrMapOvr>
</p:sld>
</file>

<file path=ppt/theme/theme1.xml><?xml version="1.0" encoding="utf-8"?>
<a:theme xmlns:a="http://schemas.openxmlformats.org/drawingml/2006/main" name="HostelHub Formal">
  <a:themeElements>
    <a:clrScheme name="HostelHub Formal">
      <a:dk1>
        <a:srgbClr val="1B1F2A"/>
      </a:dk1>
      <a:lt1>
        <a:srgbClr val="FFFFFF"/>
      </a:lt1>
      <a:dk2>
        <a:srgbClr val="14213D"/>
      </a:dk2>
      <a:lt2>
        <a:srgbClr val="F4F6F9"/>
      </a:lt2>
      <a:accent1>
        <a:srgbClr val="2E6DA4"/>
      </a:accent1>
      <a:accent2>
        <a:srgbClr val="3B4A63"/>
      </a:accent2>
      <a:accent3>
        <a:srgbClr val="2E8B57"/>
      </a:accent3>
      <a:accent4>
        <a:srgbClr val="A9C1E0"/>
      </a:accent4>
      <a:accent5>
        <a:srgbClr val="5F6B7A"/>
      </a:accent5>
      <a:accent6>
        <a:srgbClr val="8A94A6"/>
      </a:accent6>
      <a:hlink>
        <a:srgbClr val="2E6DA4"/>
      </a:hlink>
      <a:folHlink>
        <a:srgbClr val="5F6B7A"/>
      </a:folHlink>
    </a:clrScheme>
    <a:fontScheme name="HostelHub Form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1055</Words>
  <Application>Microsoft Office PowerPoint</Application>
  <PresentationFormat>On-screen Show (16:9)</PresentationFormat>
  <Paragraphs>172</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HostelHub Formal</vt:lpstr>
      <vt:lpstr>PowerPoint Presentation</vt:lpstr>
      <vt:lpstr>Problem statement</vt:lpstr>
      <vt:lpstr>Solution architecture</vt:lpstr>
      <vt:lpstr>ER diagram</vt:lpstr>
      <vt:lpstr>Normalisation to 3NF</vt:lpstr>
      <vt:lpstr>Integrity rules enforced by the database</vt:lpstr>
      <vt:lpstr>Database results (MySQL)</vt:lpstr>
      <vt:lpstr>Dashboard</vt:lpstr>
      <vt:lpstr>Bed allocation</vt:lpstr>
      <vt:lpstr>Complaints and maintenance</vt:lpstr>
      <vt:lpstr>Testing and results</vt:lpstr>
      <vt:lpstr>Conclusion and future scope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Hostel Accommodation &amp; Student Services Management System</dc:title>
  <dc:subject>PptxGenJS Presentation</dc:subject>
  <dc:creator>Navari Varshith Reddy</dc:creator>
  <cp:lastModifiedBy>varshith1782@outlook.com</cp:lastModifiedBy>
  <cp:revision>4</cp:revision>
  <dcterms:created xsi:type="dcterms:W3CDTF">2026-10-13T09:57:07Z</dcterms:created>
  <dcterms:modified xsi:type="dcterms:W3CDTF">2026-10-13T10:35:13Z</dcterms:modified>
</cp:coreProperties>
</file>